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14"/>
    <p:sldId id="265" r:id="rId15"/>
    <p:sldId id="268" r:id="rId18"/>
    <p:sldId id="269" r:id="rId19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2" r:id="rId32"/>
    <p:sldId id="283" r:id="rId33"/>
    <p:sldId id="286" r:id="rId36"/>
    <p:sldId id="287" r:id="rId37"/>
    <p:sldId id="289" r:id="rId39"/>
    <p:sldId id="291" r:id="rId41"/>
    <p:sldId id="292" r:id="rId42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7415D2-84E3-443C-A2BA-0AA4032B1B50}">
  <a:tblStyle styleId="{0B7415D2-84E3-443C-A2BA-0AA4032B1B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9" Type="http://schemas.openxmlformats.org/officeDocument/2006/relationships/slide" Target="slides/slide34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e855d781c4_2_0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e855d781c4_2_0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775c36eaa_2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g3e775c36eaa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e775c36eaa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775c36eaa_2_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e775c36eaa_2_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e775c36eaa_2_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855d781c4_2_3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g3e855d781c4_2_3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e855d781c4_2_3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855d781c4_1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g3e855d781c4_1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e855d781c4_1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855d781c4_1_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e855d781c4_1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855d781c4_1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55d781c4_1_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e855d781c4_1_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855d781c4_1_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855d781c4_2_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e855d781c4_2_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855d781c4_2_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855d781c4_2_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3e855d781c4_2_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855d781c4_2_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855d781c4_2_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3e855d781c4_2_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e855d781c4_2_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855d781c4_2_10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g3e855d781c4_2_10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855d781c4_2_10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855d781c4_2_1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g3e855d781c4_2_1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e855d781c4_2_1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855d781c4_2_1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e855d781c4_2_1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e855d781c4_2_1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855d781c4_2_138:notes"/>
          <p:cNvSpPr/>
          <p:nvPr>
            <p:ph idx="2" type="sldImg"/>
          </p:nvPr>
        </p:nvSpPr>
        <p:spPr>
          <a:xfrm>
            <a:off x="1714825" y="1371600"/>
            <a:ext cx="68583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855d781c4_2_138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855d781c4_2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4" name="Google Shape;324;g3e855d781c4_2_1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e855d781c4_2_1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e855d781c4_2_1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g3e855d781c4_2_1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e855d781c4_2_1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855d781c4_2_1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g3e855d781c4_2_16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e855d781c4_2_16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855d781c4_2_1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g3e855d781c4_2_19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e855d781c4_2_19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855d781c4_2_2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g3e855d781c4_2_2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855d781c4_2_2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855d781c4_2_2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e855d781c4_2_2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e855d781c4_2_2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855d781c4_2_2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g3e855d781c4_2_2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855d781c4_2_2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855d781c4_2_2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e855d781c4_2_2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855d781c4_2_2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855d781c4_2_2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g3e855d781c4_2_2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e855d781c4_2_2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855d781c4_2_3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g3e855d781c4_2_3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e855d781c4_2_3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61.png"/><Relationship Id="rId7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3.jp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Relationship Id="rId7" Type="http://schemas.openxmlformats.org/officeDocument/2006/relationships/image" Target="../media/image50.png"/><Relationship Id="rId8" Type="http://schemas.openxmlformats.org/officeDocument/2006/relationships/image" Target="../media/image79.png"/><Relationship Id="rId9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5.png"/><Relationship Id="rId4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37.png"/><Relationship Id="rId8" Type="http://schemas.openxmlformats.org/officeDocument/2006/relationships/image" Target="../media/image40.png"/><Relationship Id="rId9" Type="http://schemas.openxmlformats.org/officeDocument/2006/relationships/image" Target="../media/image46.png"/><Relationship Id="rId10" Type="http://schemas.openxmlformats.org/officeDocument/2006/relationships/image" Target="../media/image43.png"/><Relationship Id="rId11" Type="http://schemas.openxmlformats.org/officeDocument/2006/relationships/image" Target="../media/image52.png"/><Relationship Id="rId12" Type="http://schemas.openxmlformats.org/officeDocument/2006/relationships/image" Target="../media/image44.png"/><Relationship Id="rId13" Type="http://schemas.openxmlformats.org/officeDocument/2006/relationships/image" Target="../media/image74.png"/><Relationship Id="rId14" Type="http://schemas.openxmlformats.org/officeDocument/2006/relationships/image" Target="../media/image264.png"/><Relationship Id="rId15" Type="http://schemas.openxmlformats.org/officeDocument/2006/relationships/image" Target="../media/image29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47.png"/><Relationship Id="rId7" Type="http://schemas.openxmlformats.org/officeDocument/2006/relationships/image" Target="../media/image25.png"/><Relationship Id="rId8" Type="http://schemas.openxmlformats.org/officeDocument/2006/relationships/image" Target="../media/image6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Relationship Id="rId4" Type="http://schemas.openxmlformats.org/officeDocument/2006/relationships/image" Target="../media/image56.png"/><Relationship Id="rId5" Type="http://schemas.openxmlformats.org/officeDocument/2006/relationships/image" Target="../media/image5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51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Relationship Id="rId7" Type="http://schemas.openxmlformats.org/officeDocument/2006/relationships/image" Target="../media/image60.png"/><Relationship Id="rId8" Type="http://schemas.openxmlformats.org/officeDocument/2006/relationships/image" Target="../media/image54.png"/><Relationship Id="rId9" Type="http://schemas.openxmlformats.org/officeDocument/2006/relationships/image" Target="../media/image5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2.png"/><Relationship Id="rId4" Type="http://schemas.openxmlformats.org/officeDocument/2006/relationships/image" Target="../media/image58.png"/><Relationship Id="rId5" Type="http://schemas.openxmlformats.org/officeDocument/2006/relationships/image" Target="../media/image8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67.png"/><Relationship Id="rId7" Type="http://schemas.openxmlformats.org/officeDocument/2006/relationships/image" Target="../media/image81.png"/><Relationship Id="rId8" Type="http://schemas.openxmlformats.org/officeDocument/2006/relationships/image" Target="../media/image69.png"/><Relationship Id="rId9" Type="http://schemas.openxmlformats.org/officeDocument/2006/relationships/image" Target="../media/image8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68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73.png"/><Relationship Id="rId5" Type="http://schemas.openxmlformats.org/officeDocument/2006/relationships/image" Target="../media/image8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0.png"/><Relationship Id="rId4" Type="http://schemas.openxmlformats.org/officeDocument/2006/relationships/image" Target="../media/image80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0.png"/><Relationship Id="rId4" Type="http://schemas.openxmlformats.org/officeDocument/2006/relationships/image" Target="../media/image100.png"/><Relationship Id="rId5" Type="http://schemas.openxmlformats.org/officeDocument/2006/relationships/image" Target="../media/image80.png"/><Relationship Id="rId6" Type="http://schemas.openxmlformats.org/officeDocument/2006/relationships/image" Target="../media/image9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1.png"/><Relationship Id="rId6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84.png"/><Relationship Id="rId5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312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3042" y="0"/>
            <a:ext cx="13114958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526" y="2824738"/>
            <a:ext cx="9880972" cy="7462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428625"/>
            <a:ext cx="762952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87475" y="6010275"/>
            <a:ext cx="3419475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639925" y="428625"/>
            <a:ext cx="288607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742950" y="6562725"/>
            <a:ext cx="12658725" cy="32575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FORTRESS</a:t>
            </a:r>
          </a:p>
          <a:p>
            <a:r>
              <a:t>MLSecOps-платформа для банка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3124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096213"/>
            <a:ext cx="8624973" cy="862497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7315825" y="1658825"/>
            <a:ext cx="10734900" cy="78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Проблема</a:t>
            </a:r>
          </a:p>
          <a:p/>
          <a:p>
            <a:r>
              <a:t>«ML приносит деньги — пока не ломается»</a:t>
            </a:r>
          </a:p>
          <a:p/>
          <a:p>
            <a:r>
              <a:t>Сотни моделей в prod · один сбой = простой скоринга / штраф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5" title="Screenshot 2026-06-04 at 15.47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" name="Google Shape;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9700" y="1372550"/>
            <a:ext cx="1528224" cy="442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5186263" y="1408425"/>
            <a:ext cx="14151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Где возникают угрозы</a:t>
            </a:r>
          </a:p>
        </p:txBody>
      </p:sp>
      <p:pic>
        <p:nvPicPr>
          <p:cNvPr id="33" name="Picture 32" descr="01_trust_zon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219825"/>
            <a:ext cx="81724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550" y="2143125"/>
            <a:ext cx="81724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550" y="6219825"/>
            <a:ext cx="8172450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1181100" y="6619875"/>
            <a:ext cx="1647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03</a:t>
            </a:r>
          </a:p>
        </p:txBody>
      </p:sp>
      <p:sp>
        <p:nvSpPr>
          <p:cNvPr id="43" name="Google Shape;43;p6"/>
          <p:cNvSpPr/>
          <p:nvPr/>
        </p:nvSpPr>
        <p:spPr>
          <a:xfrm>
            <a:off x="9772650" y="2543175"/>
            <a:ext cx="1638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02</a:t>
            </a:r>
          </a:p>
        </p:txBody>
      </p:sp>
      <p:sp>
        <p:nvSpPr>
          <p:cNvPr id="44" name="Google Shape;44;p6"/>
          <p:cNvSpPr/>
          <p:nvPr/>
        </p:nvSpPr>
        <p:spPr>
          <a:xfrm>
            <a:off x="9772650" y="6619875"/>
            <a:ext cx="1743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04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742950" y="428625"/>
            <a:ext cx="103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Контекст</a:t>
            </a:r>
          </a:p>
        </p:txBody>
      </p:sp>
      <p:sp>
        <p:nvSpPr>
          <p:cNvPr id="46" name="Google Shape;46;p6"/>
          <p:cNvSpPr/>
          <p:nvPr/>
        </p:nvSpPr>
        <p:spPr>
          <a:xfrm>
            <a:off x="1181100" y="8012250"/>
            <a:ext cx="59628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MLSecOps тонет</a:t>
            </a:r>
          </a:p>
          <a:p>
            <a:r>
              <a:t>в рутине проверок</a:t>
            </a:r>
          </a:p>
        </p:txBody>
      </p:sp>
      <p:sp>
        <p:nvSpPr>
          <p:cNvPr id="47" name="Google Shape;47;p6"/>
          <p:cNvSpPr/>
          <p:nvPr/>
        </p:nvSpPr>
        <p:spPr>
          <a:xfrm>
            <a:off x="9772650" y="8045100"/>
            <a:ext cx="6981000" cy="15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FORTRESS дополняет</a:t>
            </a:r>
          </a:p>
          <a:p>
            <a:r>
              <a:t>MLOps — не заменяет ИБ</a:t>
            </a:r>
          </a:p>
        </p:txBody>
      </p:sp>
      <p:sp>
        <p:nvSpPr>
          <p:cNvPr id="48" name="Google Shape;48;p6"/>
          <p:cNvSpPr/>
          <p:nvPr/>
        </p:nvSpPr>
        <p:spPr>
          <a:xfrm>
            <a:off x="9772650" y="4127275"/>
            <a:ext cx="68676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Критические активы:</a:t>
            </a:r>
          </a:p>
          <a:p>
            <a:r>
              <a:t>данные · модели · код</a:t>
            </a:r>
          </a:p>
        </p:txBody>
      </p:sp>
      <p:pic>
        <p:nvPicPr>
          <p:cNvPr descr="preencoded.png"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" y="2143125"/>
            <a:ext cx="8172450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181100" y="2543175"/>
            <a:ext cx="1638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01</a:t>
            </a:r>
          </a:p>
        </p:txBody>
      </p:sp>
      <p:sp>
        <p:nvSpPr>
          <p:cNvPr id="51" name="Google Shape;51;p6"/>
          <p:cNvSpPr/>
          <p:nvPr/>
        </p:nvSpPr>
        <p:spPr>
          <a:xfrm>
            <a:off x="1181100" y="4447825"/>
            <a:ext cx="6867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Сотни ML-моделей</a:t>
            </a:r>
          </a:p>
          <a:p>
            <a:r>
              <a:t>в prod каждый день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5625" y="3066325"/>
            <a:ext cx="5314952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1050" y="3000375"/>
            <a:ext cx="5314952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/>
          <p:nvPr/>
        </p:nvSpPr>
        <p:spPr>
          <a:xfrm>
            <a:off x="6905625" y="3429000"/>
            <a:ext cx="1638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b="1" lang="en-US" sz="9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12630150" y="3429000"/>
            <a:ext cx="1647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b="1" lang="en-US" sz="9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12630150" y="6712850"/>
            <a:ext cx="4553100" cy="254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Утечки PII</a:t>
            </a:r>
          </a:p>
          <a:p>
            <a:r>
              <a:t>и секретов</a:t>
            </a:r>
          </a:p>
        </p:txBody>
      </p:sp>
      <p:sp>
        <p:nvSpPr>
          <p:cNvPr id="63" name="Google Shape;63;p7"/>
          <p:cNvSpPr/>
          <p:nvPr/>
        </p:nvSpPr>
        <p:spPr>
          <a:xfrm>
            <a:off x="6876700" y="7467750"/>
            <a:ext cx="44673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Бизнес завязан</a:t>
            </a:r>
          </a:p>
          <a:p>
            <a:r>
              <a:t>на ML-моделях</a:t>
            </a:r>
          </a:p>
        </p:txBody>
      </p:sp>
      <p:sp>
        <p:nvSpPr>
          <p:cNvPr id="64" name="Google Shape;64;p7"/>
          <p:cNvSpPr/>
          <p:nvPr/>
        </p:nvSpPr>
        <p:spPr>
          <a:xfrm>
            <a:off x="742950" y="428625"/>
            <a:ext cx="10391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Активы под защитой</a:t>
            </a:r>
          </a:p>
        </p:txBody>
      </p:sp>
      <p:pic>
        <p:nvPicPr>
          <p:cNvPr descr="preencoded.png" id="65" name="Google Shape;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225" y="3066325"/>
            <a:ext cx="5314952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1123225" y="3429000"/>
            <a:ext cx="1638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b="1" lang="en-US" sz="97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750"/>
              <a:t>1</a:t>
            </a:r>
            <a:endParaRPr sz="9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1123225" y="6657575"/>
            <a:ext cx="4467300" cy="26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Данные · PII · 152-ФЗ</a:t>
            </a:r>
          </a:p>
        </p:txBody>
      </p:sp>
      <p:sp>
        <p:nvSpPr>
          <p:cNvPr id="68" name="Google Shape;68;p7"/>
          <p:cNvSpPr/>
          <p:nvPr/>
        </p:nvSpPr>
        <p:spPr>
          <a:xfrm>
            <a:off x="1155475" y="5687300"/>
            <a:ext cx="15738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Данные</a:t>
            </a:r>
          </a:p>
        </p:txBody>
      </p:sp>
      <p:sp>
        <p:nvSpPr>
          <p:cNvPr id="69" name="Google Shape;69;p7"/>
          <p:cNvSpPr/>
          <p:nvPr/>
        </p:nvSpPr>
        <p:spPr>
          <a:xfrm>
            <a:off x="6905625" y="5583638"/>
            <a:ext cx="15738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ML-модели</a:t>
            </a:r>
          </a:p>
        </p:txBody>
      </p:sp>
      <p:sp>
        <p:nvSpPr>
          <p:cNvPr id="70" name="Google Shape;70;p7"/>
          <p:cNvSpPr/>
          <p:nvPr/>
        </p:nvSpPr>
        <p:spPr>
          <a:xfrm>
            <a:off x="12630150" y="5583638"/>
            <a:ext cx="15738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Код · секреты</a:t>
            </a:r>
          </a:p>
        </p:txBody>
      </p:sp>
      <p:pic>
        <p:nvPicPr>
          <p:cNvPr id="71" name="Google Shape;71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30171" y="6766075"/>
            <a:ext cx="3321276" cy="11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 txBox="1"/>
          <p:nvPr/>
        </p:nvSpPr>
        <p:spPr>
          <a:xfrm>
            <a:off x="6811075" y="8429975"/>
            <a:ext cx="44673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Предсказуемость</a:t>
            </a:r>
          </a:p>
          <a:p>
            <a:r>
              <a:t>и версии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572125"/>
            <a:ext cx="8172448" cy="385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5572125"/>
            <a:ext cx="8172448" cy="385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3550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49325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1181100" y="1238250"/>
            <a:ext cx="66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Жизненный цикл модели</a:t>
            </a:r>
          </a:p>
        </p:txBody>
      </p:sp>
      <p:sp>
        <p:nvSpPr>
          <p:cNvPr id="84" name="Google Shape;84;p8"/>
          <p:cNvSpPr/>
          <p:nvPr/>
        </p:nvSpPr>
        <p:spPr>
          <a:xfrm>
            <a:off x="9772650" y="1238250"/>
            <a:ext cx="2781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0"/>
              <a:buFont typeface="Arial"/>
              <a:buNone/>
            </a:pPr>
            <a:r>
              <a:t/>
            </a:r>
            <a:endParaRPr sz="114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181100" y="5953125"/>
            <a:ext cx="61467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Меньше инцидентов</a:t>
            </a:r>
          </a:p>
          <a:p>
            <a:r>
              <a:t>в prod</a:t>
            </a:r>
          </a:p>
        </p:txBody>
      </p:sp>
      <p:sp>
        <p:nvSpPr>
          <p:cNvPr id="86" name="Google Shape;86;p8"/>
          <p:cNvSpPr/>
          <p:nvPr/>
        </p:nvSpPr>
        <p:spPr>
          <a:xfrm>
            <a:off x="9610725" y="5953125"/>
            <a:ext cx="75576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Меньше рутины</a:t>
            </a:r>
          </a:p>
          <a:p>
            <a:r>
              <a:t>MLSecOps</a:t>
            </a:r>
          </a:p>
        </p:txBody>
      </p:sp>
      <p:sp>
        <p:nvSpPr>
          <p:cNvPr id="87" name="Google Shape;87;p8"/>
          <p:cNvSpPr/>
          <p:nvPr/>
        </p:nvSpPr>
        <p:spPr>
          <a:xfrm>
            <a:off x="9550975" y="1170000"/>
            <a:ext cx="3456000" cy="10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Быстрее</a:t>
            </a:r>
          </a:p>
          <a:p>
            <a:r>
              <a:t>в Production</a:t>
            </a:r>
          </a:p>
        </p:txBody>
      </p:sp>
      <p:sp>
        <p:nvSpPr>
          <p:cNvPr id="88" name="Google Shape;88;p8"/>
          <p:cNvSpPr/>
          <p:nvPr/>
        </p:nvSpPr>
        <p:spPr>
          <a:xfrm>
            <a:off x="1181100" y="7794084"/>
            <a:ext cx="6829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Автопроверки</a:t>
            </a:r>
          </a:p>
          <a:p>
            <a:r>
              <a:t>на каждом этапе</a:t>
            </a:r>
          </a:p>
        </p:txBody>
      </p:sp>
      <p:sp>
        <p:nvSpPr>
          <p:cNvPr id="89" name="Google Shape;89;p8"/>
          <p:cNvSpPr/>
          <p:nvPr/>
        </p:nvSpPr>
        <p:spPr>
          <a:xfrm>
            <a:off x="13844025" y="857250"/>
            <a:ext cx="34560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Human Approve</a:t>
            </a:r>
          </a:p>
          <a:p>
            <a:r>
              <a:t>только для external</a:t>
            </a:r>
          </a:p>
        </p:txBody>
      </p:sp>
      <p:sp>
        <p:nvSpPr>
          <p:cNvPr id="90" name="Google Shape;90;p8"/>
          <p:cNvSpPr/>
          <p:nvPr/>
        </p:nvSpPr>
        <p:spPr>
          <a:xfrm>
            <a:off x="9610725" y="7794084"/>
            <a:ext cx="6829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Полный контур:</a:t>
            </a:r>
          </a:p>
          <a:p>
            <a:r>
              <a:t>DEV → CI → Prod</a:t>
            </a:r>
          </a:p>
        </p:txBody>
      </p:sp>
      <p:pic>
        <p:nvPicPr>
          <p:cNvPr id="91" name="Picture 90" descr="06_model_lifecy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857250"/>
            <a:ext cx="8172450" cy="4286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572125"/>
            <a:ext cx="8172448" cy="385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5572125"/>
            <a:ext cx="8172448" cy="385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3550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49325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1181100" y="1238250"/>
            <a:ext cx="66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Метрики платформы</a:t>
            </a:r>
          </a:p>
        </p:txBody>
      </p:sp>
      <p:sp>
        <p:nvSpPr>
          <p:cNvPr id="102" name="Google Shape;102;p9"/>
          <p:cNvSpPr/>
          <p:nvPr/>
        </p:nvSpPr>
        <p:spPr>
          <a:xfrm>
            <a:off x="9772650" y="1238250"/>
            <a:ext cx="2781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G0–G15</a:t>
            </a:r>
          </a:p>
        </p:txBody>
      </p:sp>
      <p:sp>
        <p:nvSpPr>
          <p:cNvPr id="103" name="Google Shape;103;p9"/>
          <p:cNvSpPr/>
          <p:nvPr/>
        </p:nvSpPr>
        <p:spPr>
          <a:xfrm>
            <a:off x="14068425" y="1238250"/>
            <a:ext cx="2838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3 модели</a:t>
            </a:r>
          </a:p>
        </p:txBody>
      </p:sp>
      <p:sp>
        <p:nvSpPr>
          <p:cNvPr id="104" name="Google Shape;104;p9"/>
          <p:cNvSpPr/>
          <p:nvPr/>
        </p:nvSpPr>
        <p:spPr>
          <a:xfrm>
            <a:off x="1181100" y="5953125"/>
            <a:ext cx="39528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Audit chain ✓</a:t>
            </a:r>
          </a:p>
        </p:txBody>
      </p:sp>
      <p:sp>
        <p:nvSpPr>
          <p:cNvPr id="105" name="Google Shape;105;p9"/>
          <p:cNvSpPr/>
          <p:nvPr/>
        </p:nvSpPr>
        <p:spPr>
          <a:xfrm>
            <a:off x="9772650" y="5953125"/>
            <a:ext cx="3228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CI-ready</a:t>
            </a:r>
          </a:p>
        </p:txBody>
      </p:sp>
      <p:sp>
        <p:nvSpPr>
          <p:cNvPr id="106" name="Google Shape;106;p9"/>
          <p:cNvSpPr/>
          <p:nvPr/>
        </p:nvSpPr>
        <p:spPr>
          <a:xfrm>
            <a:off x="9772650" y="3974688"/>
            <a:ext cx="2695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Findings</a:t>
            </a:r>
          </a:p>
        </p:txBody>
      </p:sp>
      <p:sp>
        <p:nvSpPr>
          <p:cNvPr id="107" name="Google Shape;107;p9"/>
          <p:cNvSpPr/>
          <p:nvPr/>
        </p:nvSpPr>
        <p:spPr>
          <a:xfrm>
            <a:off x="14068425" y="3612738"/>
            <a:ext cx="33243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Human Approve</a:t>
            </a:r>
          </a:p>
          <a:p>
            <a:r>
              <a:t>(исключение)</a:t>
            </a:r>
          </a:p>
        </p:txBody>
      </p:sp>
      <p:sp>
        <p:nvSpPr>
          <p:cNvPr id="108" name="Google Shape;108;p9"/>
          <p:cNvSpPr/>
          <p:nvPr/>
        </p:nvSpPr>
        <p:spPr>
          <a:xfrm>
            <a:off x="1181100" y="8308563"/>
            <a:ext cx="6829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Signed</a:t>
            </a:r>
          </a:p>
          <a:p>
            <a:r>
              <a:t>attestation</a:t>
            </a:r>
          </a:p>
        </p:txBody>
      </p:sp>
      <p:sp>
        <p:nvSpPr>
          <p:cNvPr id="109" name="Google Shape;109;p9"/>
          <p:cNvSpPr/>
          <p:nvPr/>
        </p:nvSpPr>
        <p:spPr>
          <a:xfrm>
            <a:off x="9772650" y="8308563"/>
            <a:ext cx="7448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15 мин vs</a:t>
            </a:r>
          </a:p>
          <a:p>
            <a:r>
              <a:t>2–5 дней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5572125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572125"/>
            <a:ext cx="81724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3550" y="857250"/>
            <a:ext cx="81724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/>
          <p:nvPr/>
        </p:nvSpPr>
        <p:spPr>
          <a:xfrm>
            <a:off x="1181100" y="1238250"/>
            <a:ext cx="66009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Онбординг</a:t>
            </a:r>
          </a:p>
          <a:p/>
          <a:p>
            <a:r>
              <a:t>Регистрация → роль → MLflow SSO</a:t>
            </a:r>
          </a:p>
          <a:p>
            <a:r>
              <a:t>Один логин для UI и MLflow</a:t>
            </a:r>
          </a:p>
        </p:txBody>
      </p:sp>
      <p:sp>
        <p:nvSpPr>
          <p:cNvPr id="128" name="Google Shape;128;p11"/>
          <p:cNvSpPr/>
          <p:nvPr/>
        </p:nvSpPr>
        <p:spPr>
          <a:xfrm>
            <a:off x="9772650" y="5953125"/>
            <a:ext cx="7063500" cy="16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b="1" lang="en-US" sz="4000"/>
              <a:t>Основные и рутинные задачи контролируются автоматически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9610725" y="8689563"/>
            <a:ext cx="7448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1"/>
          <p:cNvPicPr preferRelativeResize="0"/>
          <p:nvPr/>
        </p:nvPicPr>
        <p:blipFill rotWithShape="1">
          <a:blip r:embed="rId7">
            <a:alphaModFix/>
          </a:blip>
          <a:srcRect b="37937" l="0" r="0" t="26558"/>
          <a:stretch/>
        </p:blipFill>
        <p:spPr>
          <a:xfrm>
            <a:off x="762000" y="5572125"/>
            <a:ext cx="8262000" cy="4286100"/>
          </a:xfrm>
          <a:prstGeom prst="roundRect">
            <a:avLst>
              <a:gd fmla="val 853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53725" y="1981200"/>
            <a:ext cx="5286375" cy="830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3700" y="1790700"/>
            <a:ext cx="5686426" cy="8496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/>
          <p:nvPr/>
        </p:nvSpPr>
        <p:spPr>
          <a:xfrm>
            <a:off x="742950" y="342900"/>
            <a:ext cx="10372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Jupyter — эксперименты</a:t>
            </a:r>
          </a:p>
          <a:p>
            <a:r>
              <a:t>MLflow — реестр</a:t>
            </a:r>
          </a:p>
        </p:txBody>
      </p:sp>
      <p:sp>
        <p:nvSpPr>
          <p:cNvPr id="140" name="Google Shape;140;p12"/>
          <p:cNvSpPr/>
          <p:nvPr/>
        </p:nvSpPr>
        <p:spPr>
          <a:xfrm>
            <a:off x="742950" y="3000375"/>
            <a:ext cx="76866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В prod — только модель</a:t>
            </a:r>
          </a:p>
          <a:p>
            <a:r>
              <a:t>из CI pipeline (signed)</a:t>
            </a:r>
          </a:p>
        </p:txBody>
      </p:sp>
      <p:sp>
        <p:nvSpPr>
          <p:cNvPr id="141" name="Google Shape;141;p12"/>
          <p:cNvSpPr/>
          <p:nvPr/>
        </p:nvSpPr>
        <p:spPr>
          <a:xfrm>
            <a:off x="742950" y="4538475"/>
            <a:ext cx="7686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Lineage: dataset SHA ↔ git ↔ run_id</a:t>
            </a:r>
          </a:p>
        </p:txBody>
      </p:sp>
      <p:pic>
        <p:nvPicPr>
          <p:cNvPr descr="preencoded.png" id="142" name="Google Shape;14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7781372"/>
            <a:ext cx="2141177" cy="214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/>
          <p:nvPr/>
        </p:nvSpPr>
        <p:spPr>
          <a:xfrm>
            <a:off x="742950" y="5662650"/>
            <a:ext cx="7686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Автосинхронизация</a:t>
            </a:r>
          </a:p>
          <a:p>
            <a:r>
              <a:t>attestation → MLflow tags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3713" y="838200"/>
            <a:ext cx="8943900" cy="9020100"/>
          </a:xfrm>
          <a:prstGeom prst="roundRect">
            <a:avLst>
              <a:gd fmla="val 6065" name="adj"/>
            </a:avLst>
          </a:prstGeom>
          <a:noFill/>
          <a:ln>
            <a:noFill/>
          </a:ln>
        </p:spPr>
      </p:pic>
      <p:pic>
        <p:nvPicPr>
          <p:cNvPr descr="preencoded.png" id="179" name="Google Shape;1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88" y="838200"/>
            <a:ext cx="8172449" cy="37469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0" name="Google Shape;1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88" y="4828463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1388" y="1152525"/>
            <a:ext cx="43820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813" y="5138738"/>
            <a:ext cx="49449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/>
          <p:nvPr/>
        </p:nvSpPr>
        <p:spPr>
          <a:xfrm>
            <a:off x="821388" y="2124075"/>
            <a:ext cx="70866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Все активы через контур FORTRESS</a:t>
            </a:r>
          </a:p>
          <a:p>
            <a:r>
              <a:t>(MLflow + gates + audit)</a:t>
            </a:r>
          </a:p>
        </p:txBody>
      </p:sp>
      <p:sp>
        <p:nvSpPr>
          <p:cNvPr id="184" name="Google Shape;184;p15"/>
          <p:cNvSpPr/>
          <p:nvPr/>
        </p:nvSpPr>
        <p:spPr>
          <a:xfrm>
            <a:off x="811788" y="6014803"/>
            <a:ext cx="71058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en-US" sz="2850"/>
              <a:t>Есть возможность загрузить каждый из активов по отдельности. </a:t>
            </a:r>
            <a:endParaRPr sz="2850"/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i="1" lang="en-US" sz="2850"/>
              <a:t>Пример: </a:t>
            </a:r>
            <a:r>
              <a:rPr lang="en-US" sz="2850"/>
              <a:t>Фронтедер собрал логи и через наш сервис безопасно передал ДСеру с промежуточными проверками</a:t>
            </a:r>
            <a:br>
              <a:rPr lang="en-US" sz="2850"/>
            </a:b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992838" y="1290650"/>
            <a:ext cx="464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Эксперименты</a:t>
            </a:r>
          </a:p>
        </p:txBody>
      </p:sp>
      <p:sp>
        <p:nvSpPr>
          <p:cNvPr id="186" name="Google Shape;186;p15"/>
          <p:cNvSpPr/>
          <p:nvPr/>
        </p:nvSpPr>
        <p:spPr>
          <a:xfrm>
            <a:off x="815488" y="5257813"/>
            <a:ext cx="489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Ручная загрузка</a:t>
            </a:r>
          </a:p>
        </p:txBody>
      </p:sp>
      <p:pic>
        <p:nvPicPr>
          <p:cNvPr descr="preencoded.png" id="187" name="Google Shape;1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388" y="8291250"/>
            <a:ext cx="8172449" cy="148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1988" y="8618625"/>
            <a:ext cx="3594150" cy="8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/>
          <p:nvPr/>
        </p:nvSpPr>
        <p:spPr>
          <a:xfrm>
            <a:off x="774813" y="8749938"/>
            <a:ext cx="3408600" cy="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Автопроверки</a:t>
            </a:r>
          </a:p>
        </p:txBody>
      </p:sp>
      <p:pic>
        <p:nvPicPr>
          <p:cNvPr descr="preencoded.png" id="190" name="Google Shape;19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9263" y="8609588"/>
            <a:ext cx="3408600" cy="8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5"/>
          <p:cNvSpPr/>
          <p:nvPr/>
        </p:nvSpPr>
        <p:spPr>
          <a:xfrm>
            <a:off x="5010713" y="8747713"/>
            <a:ext cx="311010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Версии + SHA</a:t>
            </a:r>
          </a:p>
        </p:txBody>
      </p:sp>
      <p:pic>
        <p:nvPicPr>
          <p:cNvPr descr="preencoded.png" id="192" name="Google Shape;19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4987" y="1052525"/>
            <a:ext cx="43820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/>
          <p:nvPr/>
        </p:nvSpPr>
        <p:spPr>
          <a:xfrm>
            <a:off x="11108888" y="1225075"/>
            <a:ext cx="464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Единый audit trail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9" name="Google Shape;1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0" name="Google Shape;2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0037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1" name="Google Shape;20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63892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2" name="Google Shape;2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300037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3" name="Google Shape;2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663892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314700"/>
            <a:ext cx="7239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6953250"/>
            <a:ext cx="7810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5975" y="3314700"/>
            <a:ext cx="7810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34550" y="6953250"/>
            <a:ext cx="8001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6"/>
          <p:cNvSpPr/>
          <p:nvPr/>
        </p:nvSpPr>
        <p:spPr>
          <a:xfrm>
            <a:off x="742950" y="428625"/>
            <a:ext cx="10372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Боли MLSecOps → FORTRESS</a:t>
            </a:r>
          </a:p>
        </p:txBody>
      </p:sp>
      <p:sp>
        <p:nvSpPr>
          <p:cNvPr id="209" name="Google Shape;209;p16"/>
          <p:cNvSpPr/>
          <p:nvPr/>
        </p:nvSpPr>
        <p:spPr>
          <a:xfrm>
            <a:off x="1143000" y="4286250"/>
            <a:ext cx="7086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«Где модель?» → единый реестр</a:t>
            </a:r>
          </a:p>
        </p:txBody>
      </p:sp>
      <p:sp>
        <p:nvSpPr>
          <p:cNvPr id="210" name="Google Shape;210;p16"/>
          <p:cNvSpPr/>
          <p:nvPr/>
        </p:nvSpPr>
        <p:spPr>
          <a:xfrm>
            <a:off x="1143000" y="7783275"/>
            <a:ext cx="7086600" cy="19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«Прошла проверка?» → теги security.*</a:t>
            </a:r>
          </a:p>
        </p:txBody>
      </p:sp>
      <p:sp>
        <p:nvSpPr>
          <p:cNvPr id="211" name="Google Shape;211;p16"/>
          <p:cNvSpPr/>
          <p:nvPr/>
        </p:nvSpPr>
        <p:spPr>
          <a:xfrm>
            <a:off x="9734550" y="4286250"/>
            <a:ext cx="7105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«Кто одобрил?» → audit chain</a:t>
            </a:r>
          </a:p>
        </p:txBody>
      </p:sp>
      <p:sp>
        <p:nvSpPr>
          <p:cNvPr id="212" name="Google Shape;212;p16"/>
          <p:cNvSpPr/>
          <p:nvPr/>
        </p:nvSpPr>
        <p:spPr>
          <a:xfrm>
            <a:off x="9734550" y="7924800"/>
            <a:ext cx="7105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Рутина автоматизирована</a:t>
            </a:r>
          </a:p>
          <a:p>
            <a:r>
              <a:t>Human Approve — исключение</a:t>
            </a:r>
          </a:p>
        </p:txBody>
      </p:sp>
      <p:sp>
        <p:nvSpPr>
          <p:cNvPr id="213" name="Google Shape;213;p16"/>
          <p:cNvSpPr/>
          <p:nvPr/>
        </p:nvSpPr>
        <p:spPr>
          <a:xfrm>
            <a:off x="1314450" y="3452813"/>
            <a:ext cx="3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1314450" y="7091363"/>
            <a:ext cx="44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9877425" y="3452813"/>
            <a:ext cx="44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9906000" y="7091363"/>
            <a:ext cx="46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Picture 216" descr="10_rba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000375"/>
            <a:ext cx="8172449" cy="32194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1" name="Google Shape;2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3550" y="5572125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3" name="Google Shape;2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572125"/>
            <a:ext cx="8172450" cy="428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/>
          <p:nvPr/>
        </p:nvSpPr>
        <p:spPr>
          <a:xfrm>
            <a:off x="1060050" y="1238250"/>
            <a:ext cx="7712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Рынок сегодня</a:t>
            </a:r>
          </a:p>
        </p:txBody>
      </p:sp>
      <p:sp>
        <p:nvSpPr>
          <p:cNvPr id="245" name="Google Shape;245;p18"/>
          <p:cNvSpPr/>
          <p:nvPr/>
        </p:nvSpPr>
        <p:spPr>
          <a:xfrm>
            <a:off x="9772650" y="1238250"/>
            <a:ext cx="70887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Платформы</a:t>
            </a:r>
          </a:p>
          <a:p>
            <a:r>
              <a:t>(HiddenLayer, Protect AI)</a:t>
            </a:r>
          </a:p>
        </p:txBody>
      </p:sp>
      <p:sp>
        <p:nvSpPr>
          <p:cNvPr id="246" name="Google Shape;246;p18"/>
          <p:cNvSpPr/>
          <p:nvPr/>
        </p:nvSpPr>
        <p:spPr>
          <a:xfrm>
            <a:off x="9772650" y="5953125"/>
            <a:ext cx="71937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Облачный MLOps</a:t>
            </a:r>
          </a:p>
          <a:p>
            <a:r>
              <a:t>(SageMaker, Vertex)</a:t>
            </a:r>
          </a:p>
        </p:txBody>
      </p:sp>
      <p:sp>
        <p:nvSpPr>
          <p:cNvPr id="247" name="Google Shape;247;p18"/>
          <p:cNvSpPr/>
          <p:nvPr/>
        </p:nvSpPr>
        <p:spPr>
          <a:xfrm>
            <a:off x="1181100" y="5953125"/>
            <a:ext cx="71937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Разрозненные</a:t>
            </a:r>
          </a:p>
          <a:p>
            <a:r>
              <a:t>инструменты</a:t>
            </a:r>
          </a:p>
        </p:txBody>
      </p:sp>
      <p:sp>
        <p:nvSpPr>
          <p:cNvPr id="248" name="Google Shape;248;p18"/>
          <p:cNvSpPr/>
          <p:nvPr/>
        </p:nvSpPr>
        <p:spPr>
          <a:xfrm>
            <a:off x="9601825" y="3612750"/>
            <a:ext cx="77124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Дорого · vendor lock-in</a:t>
            </a:r>
          </a:p>
        </p:txBody>
      </p:sp>
      <p:sp>
        <p:nvSpPr>
          <p:cNvPr id="249" name="Google Shape;249;p18"/>
          <p:cNvSpPr/>
          <p:nvPr/>
        </p:nvSpPr>
        <p:spPr>
          <a:xfrm>
            <a:off x="1181100" y="8689563"/>
            <a:ext cx="6829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gitleaks · trivy · modelscan</a:t>
            </a:r>
          </a:p>
          <a:p>
            <a:r>
              <a:t>не связаны между собой</a:t>
            </a:r>
          </a:p>
        </p:txBody>
      </p:sp>
      <p:sp>
        <p:nvSpPr>
          <p:cNvPr id="250" name="Google Shape;250;p18"/>
          <p:cNvSpPr/>
          <p:nvPr/>
        </p:nvSpPr>
        <p:spPr>
          <a:xfrm>
            <a:off x="9510675" y="8689575"/>
            <a:ext cx="7858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Нет lineage · нет «можно в prod»</a:t>
            </a:r>
          </a:p>
        </p:txBody>
      </p:sp>
      <p:pic>
        <p:nvPicPr>
          <p:cNvPr id="251" name="Picture 250" descr="11_analogs_mar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857250"/>
            <a:ext cx="8172450" cy="42862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6" name="Google Shape;2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14499"/>
            <a:ext cx="5076825" cy="814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6647529"/>
            <a:ext cx="5086350" cy="3235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1714498"/>
            <a:ext cx="5086351" cy="814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0824" y="6629400"/>
            <a:ext cx="508635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49173" y="1714497"/>
            <a:ext cx="5086351" cy="814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674855" y="2001720"/>
            <a:ext cx="1825114" cy="55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449173" y="6629399"/>
            <a:ext cx="508635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/>
          <p:nvPr/>
        </p:nvSpPr>
        <p:spPr>
          <a:xfrm>
            <a:off x="1123950" y="6886575"/>
            <a:ext cx="4152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50"/>
              <a:buFont typeface="Arial"/>
              <a:buNone/>
            </a:pPr>
            <a:r>
              <a:rPr b="1" lang="en-US" sz="4500">
                <a:solidFill>
                  <a:schemeClr val="lt1"/>
                </a:solidFill>
              </a:rPr>
              <a:t>Николай Гавришок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1123950" y="8258175"/>
            <a:ext cx="4143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lt1"/>
                </a:solidFill>
              </a:rPr>
              <a:t>база данных, хранилище, авторизация, бэкенд</a:t>
            </a:r>
            <a:endParaRPr sz="2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1152525" y="2109788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СПИКЕР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6962775" y="6886575"/>
            <a:ext cx="4152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</a:rPr>
              <a:t>Александр Кондаков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6962775" y="8258175"/>
            <a:ext cx="4608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FFFFFF"/>
                </a:solidFill>
              </a:rPr>
              <a:t>конвейер проверок, защита api моделей, мониторинг, ui</a:t>
            </a:r>
            <a:endParaRPr sz="2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t/>
            </a:r>
            <a:endParaRPr sz="2250">
              <a:solidFill>
                <a:srgbClr val="FFFFFF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6991350" y="2109788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СПИКЕР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12811125" y="6886575"/>
            <a:ext cx="4152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lang="en-US" sz="4500"/>
              <a:t>Екатерина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500"/>
              <a:t>Трюх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12811125" y="8258175"/>
            <a:ext cx="4143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пайплайн, докер, CI/CD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sz="2250"/>
          </a:p>
        </p:txBody>
      </p:sp>
      <p:sp>
        <p:nvSpPr>
          <p:cNvPr id="272" name="Google Shape;272;p19"/>
          <p:cNvSpPr/>
          <p:nvPr/>
        </p:nvSpPr>
        <p:spPr>
          <a:xfrm>
            <a:off x="12839700" y="2154032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СПИКЕР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0125" y="1971675"/>
            <a:ext cx="18002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/>
          <p:nvPr/>
        </p:nvSpPr>
        <p:spPr>
          <a:xfrm>
            <a:off x="1152525" y="2124536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СПИКЕР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40182" y="1971675"/>
            <a:ext cx="18002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/>
          <p:nvPr/>
        </p:nvSpPr>
        <p:spPr>
          <a:xfrm>
            <a:off x="6992582" y="2124536"/>
            <a:ext cx="1495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СПИКЕР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28250" y="2608900"/>
            <a:ext cx="3944325" cy="394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title="Screenshot 2026-06-03 at 16.43.33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600825" y="1714500"/>
            <a:ext cx="5076824" cy="493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title="Screenshot 2026-06-03 at 16.48.39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62000" y="1714500"/>
            <a:ext cx="5086349" cy="493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6" name="Google Shape;2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0037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63892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3000375"/>
            <a:ext cx="8172449" cy="3219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314700"/>
            <a:ext cx="17463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6953250"/>
            <a:ext cx="17463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5975" y="3314700"/>
            <a:ext cx="166975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/>
          <p:nvPr/>
        </p:nvSpPr>
        <p:spPr>
          <a:xfrm>
            <a:off x="742950" y="428625"/>
            <a:ext cx="10372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Команда</a:t>
            </a:r>
          </a:p>
        </p:txBody>
      </p:sp>
      <p:sp>
        <p:nvSpPr>
          <p:cNvPr id="293" name="Google Shape;293;p20"/>
          <p:cNvSpPr/>
          <p:nvPr/>
        </p:nvSpPr>
        <p:spPr>
          <a:xfrm>
            <a:off x="1143000" y="4286250"/>
            <a:ext cx="7441200" cy="1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Слои проверок:</a:t>
            </a:r>
            <a:r>
              <a:rPr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 Gates,  workflows ci/train/deploy</a:t>
            </a:r>
            <a:endParaRPr sz="2800">
              <a:solidFill>
                <a:srgbClr val="0A0A0A"/>
              </a:solidFill>
              <a:highlight>
                <a:srgbClr val="FDFDF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Рантайм и ML:</a:t>
            </a:r>
            <a:r>
              <a:rPr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 инференс, rate-limit и DLP, мониторинг</a:t>
            </a:r>
            <a:endParaRPr sz="2800">
              <a:solidFill>
                <a:srgbClr val="0A0A0A"/>
              </a:solidFill>
              <a:highlight>
                <a:srgbClr val="FDFDF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1143000" y="7924800"/>
            <a:ext cx="7086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>
                <a:solidFill>
                  <a:schemeClr val="dk1"/>
                </a:solidFill>
              </a:rPr>
              <a:t>DevOps: </a:t>
            </a:r>
            <a:r>
              <a:rPr lang="en-US" sz="2850">
                <a:solidFill>
                  <a:schemeClr val="dk1"/>
                </a:solidFill>
              </a:rPr>
              <a:t>CI/CD и пайплайн</a:t>
            </a:r>
            <a:br>
              <a:rPr b="1" lang="en-US" sz="2850"/>
            </a:br>
            <a:r>
              <a:rPr b="1" lang="en-US" sz="2850"/>
              <a:t>Анализ конкурентов</a:t>
            </a:r>
            <a:endParaRPr b="1" sz="28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50"/>
              <a:t>Архитектура проекта</a:t>
            </a:r>
            <a:endParaRPr b="1"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9734550" y="4286250"/>
            <a:ext cx="7105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Ядро/бэкенд/identity: </a:t>
            </a:r>
            <a:r>
              <a:rPr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Gatekeeper API, RBAC, реестр, БД, MLflow за auth-прокси</a:t>
            </a:r>
            <a:br>
              <a:rPr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1"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  <a:t>Проработка логики workflow</a:t>
            </a:r>
            <a:br>
              <a:rPr lang="en-US" sz="2800">
                <a:solidFill>
                  <a:srgbClr val="0A0A0A"/>
                </a:solidFill>
                <a:highlight>
                  <a:srgbClr val="FDFDFC"/>
                </a:highlight>
                <a:latin typeface="Roboto"/>
                <a:ea typeface="Roboto"/>
                <a:cs typeface="Roboto"/>
                <a:sym typeface="Roboto"/>
              </a:rPr>
            </a:b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1314450" y="3452825"/>
            <a:ext cx="14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/>
              <a:t>Саша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1314450" y="7091375"/>
            <a:ext cx="14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Катя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9877425" y="3452825"/>
            <a:ext cx="1238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Коля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Герои Браво старс - Раскраски от сайта В мире сказки!" id="299" name="Google Shape;29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20825" y="6219825"/>
            <a:ext cx="4067175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2BFE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5" name="Google Shape;3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6" name="Google Shape;3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025" y="428625"/>
            <a:ext cx="9429751" cy="942975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/>
          <p:nvPr/>
        </p:nvSpPr>
        <p:spPr>
          <a:xfrm>
            <a:off x="10258425" y="7529850"/>
            <a:ext cx="80295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Модель угроз</a:t>
            </a:r>
          </a:p>
        </p:txBody>
      </p:sp>
      <p:pic>
        <p:nvPicPr>
          <p:cNvPr id="308" name="Picture 307" descr="09_threats_mapp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25" y="428625"/>
            <a:ext cx="9429751" cy="94297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3" name="Google Shape;3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2"/>
          <p:cNvSpPr/>
          <p:nvPr/>
        </p:nvSpPr>
        <p:spPr>
          <a:xfrm>
            <a:off x="742950" y="428625"/>
            <a:ext cx="10372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6000"/>
              <a:t>Основные активы и угрозы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22"/>
          <p:cNvGraphicFramePr/>
          <p:nvPr/>
        </p:nvGraphicFramePr>
        <p:xfrm>
          <a:off x="742950" y="27486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DFDFC"/>
                </a:solidFill>
                <a:tableStyleId>{0B7415D2-84E3-443C-A2BA-0AA4032B1B50}</a:tableStyleId>
              </a:tblPr>
              <a:tblGrid>
                <a:gridCol w="2454400"/>
                <a:gridCol w="1789150"/>
                <a:gridCol w="2794600"/>
                <a:gridCol w="1582125"/>
                <a:gridCol w="2646750"/>
                <a:gridCol w="694975"/>
                <a:gridCol w="2779825"/>
                <a:gridCol w="2291875"/>
              </a:tblGrid>
              <a:tr h="656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Актив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Поверхность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Уязвимость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Угроза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Последствия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Риск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MITRE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</a:t>
                      </a:r>
                      <a:endParaRPr b="1"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5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train.csv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Загрузка датасета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 валидации схемы/баланса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Poisoning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Искажение скоринга, скрытый бэкдор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Выс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ATLAS AML.T0020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DATA gate</a:t>
                      </a: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Веса модели (HF)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Закачка внешней модели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pickle</a:t>
                      </a: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исполняет код при </a:t>
                      </a: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load()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RCE через веса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Захват прод-хоста, кража данных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Выс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ATLAS AML.T0010.003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G5 modelscan + G6</a:t>
                      </a: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requirements.txt</a:t>
                      </a: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, код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CI/CD (PR)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Секреты в коде + CVE в либах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Утечка кред / RCE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Компрометация БД, простой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Выс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ATT&amp;CK T1552, T1195.002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G0 gitleaks + G3 pip-audit</a:t>
                      </a: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Артефакт перед деплоем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CI/CD, MinIO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 проверки целостности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Подмена артефакта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прод уходит чужая/битая модель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Выс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ATT&amp;CK T1195.002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G7 SHA-256 + cosign</a:t>
                      </a: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Прод-API инференса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Публичный эндпоинт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Нет лимита, отдаём точные вероятности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Extraction / DoS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Потеря IP, отказ сервиса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Сред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A0A0A"/>
                          </a:solidFill>
                          <a:highlight>
                            <a:srgbClr val="FDFD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ATLAS AML.T0024, ATT&amp;CK T1499</a:t>
                      </a:r>
                      <a:endParaRPr sz="1800">
                        <a:solidFill>
                          <a:srgbClr val="0A0A0A"/>
                        </a:solidFill>
                        <a:highlight>
                          <a:srgbClr val="FDFD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G14 rate-limit + DLP</a:t>
                      </a:r>
                    </a:p>
                  </a:txBody>
                  <a:tcPr marT="57150" marB="57150" marR="57150" marL="571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Google Shape;320;p23"/>
          <p:cNvGraphicFramePr/>
          <p:nvPr/>
        </p:nvGraphicFramePr>
        <p:xfrm>
          <a:off x="157150" y="2414188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8FC"/>
                </a:solidFill>
                <a:tableStyleId>{0B7415D2-84E3-443C-A2BA-0AA4032B1B50}</a:tableStyleId>
              </a:tblPr>
              <a:tblGrid>
                <a:gridCol w="1804300"/>
                <a:gridCol w="2481950"/>
                <a:gridCol w="2203575"/>
                <a:gridCol w="2797050"/>
                <a:gridCol w="2419350"/>
                <a:gridCol w="2762250"/>
                <a:gridCol w="1943100"/>
                <a:gridCol w="1562100"/>
              </a:tblGrid>
              <a:tr h="476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Данные (CSV / Parquet)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Код (Git-репозиторий)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Зависимости (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requirements.txt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Модель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(файл весов)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Контейнер (Docker-образ)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Паспорт / lineage (model card)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Проверки (API + трафик)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Прод </a:t>
                      </a:r>
                      <a:endParaRPr sz="150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Проверки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Читаемость формата · схема колонок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баланс классов (anti-poisoning)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PII (email, карты)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prompt-инъекции в тексте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(план: типы, пропуски, дубликаты)</a:t>
                      </a:r>
                      <a:endParaRPr i="1"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Секреты в коде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SAST (опасный Python)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· CVE в пакетах из 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requirements.txt</a:t>
                      </a:r>
                      <a:endParaRPr sz="1500">
                        <a:solidFill>
                          <a:srgbClr val="3B3B3B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Имена в allow-list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typosquatting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пиннинг версий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доверенный PyPI / HF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Запрещены pickle/pt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разрешены safetensors/onnx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скан весов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SHA-256 vs реестр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cosign-подпись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train↔serve consistency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Критичные CVE в образе · повторная проверка SHA модели перед стартом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Полнота паспорта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· Tier (LOW/MED/HIGH)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lineage: датасет ↔ git ↔ SHA модели ↔ run_id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уникальность версии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Drift (PSI)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деградация метрик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подмена модели (хэш в рантайме)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rate limit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валидация входа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лимит тела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без «сырых» logits · DLP в логах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Гейты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G0 + G1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G2 (stage 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ci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/ 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deploy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)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G3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G4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G2 (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deploy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) + G4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G0 + G5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G6 + G7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Технологии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pandas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regex (PII, инъекции)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(план: Presidio)</a:t>
                      </a:r>
                      <a:endParaRPr i="1"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gitleaks · bandit · pip-audit · trivy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(только deploy)</a:t>
                      </a:r>
                      <a:endParaRPr i="1"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Кастомный checker + allow-list · парсер 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requirements.txt</a:t>
                      </a:r>
                      <a:endParaRPr sz="1500">
                        <a:solidFill>
                          <a:srgbClr val="3B3B3B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modelscan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· picklescan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(fallback)</a:t>
                      </a:r>
                      <a:endParaRPr i="1"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· hashlib SHA-256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cosign / Sigstore · pytest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(consistency)</a:t>
                      </a:r>
                      <a:endParaRPr i="1"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trivy </a:t>
                      </a:r>
                      <a:r>
                        <a:rPr lang="en-US" sz="1500">
                          <a:solidFill>
                            <a:srgbClr val="3B3B3B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image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cosign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hashlib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pydantic (</a:t>
                      </a:r>
                      <a:r>
                        <a:rPr lang="en-US" sz="1500">
                          <a:solidFill>
                            <a:srgbClr val="0451A5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core/model_card.py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) · G5 registry gate · Postgres UNIQUE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evidently / PSI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(план)</a:t>
                      </a: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hashlib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 · Redis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FastAPI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Pydantic </a:t>
                      </a:r>
                      <a:endParaRPr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· regex DLP </a:t>
                      </a:r>
                      <a:r>
                        <a:rPr i="1" lang="en-US" sz="15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(план: Presidio)</a:t>
                      </a:r>
                      <a:endParaRPr i="1" sz="15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47625" marB="47625" marR="85725" marL="857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23"/>
          <p:cNvSpPr/>
          <p:nvPr/>
        </p:nvSpPr>
        <p:spPr>
          <a:xfrm>
            <a:off x="742950" y="428625"/>
            <a:ext cx="16374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Security Gates — слои (docs/architecture.md §7)</a:t>
            </a:r>
          </a:p>
        </p:txBody>
      </p:sp>
      <p:pic>
        <p:nvPicPr>
          <p:cNvPr id="322" name="Picture 321" descr="03_security_gates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" y="1800000"/>
            <a:ext cx="17000000" cy="4395714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7" name="Google Shape;3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572125"/>
            <a:ext cx="1676400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3550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49325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572125"/>
            <a:ext cx="1676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2" name="Google Shape;33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53550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3" name="Google Shape;333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649325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/>
          <p:nvPr/>
        </p:nvSpPr>
        <p:spPr>
          <a:xfrm>
            <a:off x="1181100" y="1238250"/>
            <a:ext cx="66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Human Approve</a:t>
            </a:r>
          </a:p>
          <a:p/>
          <a:p>
            <a:r>
              <a:t>Только для external-моделей и tier HIGH</a:t>
            </a:r>
          </a:p>
          <a:p>
            <a:r>
              <a:t>CI-модель + signed → deploy без ручного шага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34C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0" name="Google Shape;3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1" name="Google Shape;3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" y="428625"/>
            <a:ext cx="9429751" cy="942975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/>
          <p:nvPr/>
        </p:nvSpPr>
        <p:spPr>
          <a:xfrm>
            <a:off x="10706100" y="7543800"/>
            <a:ext cx="7581900" cy="18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Демо — 3 сценария</a:t>
            </a:r>
          </a:p>
        </p:txBody>
      </p:sp>
      <p:pic>
        <p:nvPicPr>
          <p:cNvPr id="343" name="Picture 342" descr="07_demo_scen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428625"/>
            <a:ext cx="9429751" cy="94297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8" name="Google Shape;3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70250"/>
            <a:ext cx="3983700" cy="553644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/>
          <p:nvPr/>
        </p:nvSpPr>
        <p:spPr>
          <a:xfrm>
            <a:off x="1181100" y="1238250"/>
            <a:ext cx="2127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Видимость для MLSecOps</a:t>
            </a:r>
          </a:p>
        </p:txBody>
      </p:sp>
      <p:pic>
        <p:nvPicPr>
          <p:cNvPr id="350" name="Google Shape;350;p26" title="Screenshot 2026-06-03 at 14.37.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450" y="870250"/>
            <a:ext cx="6627200" cy="471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 title="Screenshot 2026-06-03 at 14.41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87100" y="870250"/>
            <a:ext cx="6456648" cy="471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6" title="Screenshot 2026-06-03 at 14.42.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0" y="5572125"/>
            <a:ext cx="5387551" cy="354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6" title="Screenshot 2026-06-03 at 14.44.1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77150" y="5572125"/>
            <a:ext cx="6348851" cy="354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6" title="Screenshot 2026-06-03 at 14.45.0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49550" y="5572130"/>
            <a:ext cx="5027599" cy="354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Picture 354" descr="08_visibility_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4450" y="870250"/>
            <a:ext cx="6627200" cy="471490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2" name="Google Shape;3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00375"/>
            <a:ext cx="5314948" cy="6429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3000375"/>
            <a:ext cx="5314948" cy="6429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5" name="Google Shape;3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11050" y="3000375"/>
            <a:ext cx="5314948" cy="6429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3352800"/>
            <a:ext cx="7048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7525" y="3352800"/>
            <a:ext cx="7048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8" name="Google Shape;388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92050" y="3352800"/>
            <a:ext cx="7048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9"/>
          <p:cNvSpPr/>
          <p:nvPr/>
        </p:nvSpPr>
        <p:spPr>
          <a:xfrm>
            <a:off x="742950" y="428625"/>
            <a:ext cx="10372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Функционал FORTRESS</a:t>
            </a:r>
          </a:p>
        </p:txBody>
      </p:sp>
      <p:sp>
        <p:nvSpPr>
          <p:cNvPr id="390" name="Google Shape;390;p29"/>
          <p:cNvSpPr/>
          <p:nvPr/>
        </p:nvSpPr>
        <p:spPr>
          <a:xfrm>
            <a:off x="1143000" y="4391025"/>
            <a:ext cx="4724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RBAC / Роли</a:t>
            </a:r>
          </a:p>
        </p:txBody>
      </p:sp>
      <p:sp>
        <p:nvSpPr>
          <p:cNvPr id="391" name="Google Shape;391;p29"/>
          <p:cNvSpPr/>
          <p:nvPr/>
        </p:nvSpPr>
        <p:spPr>
          <a:xfrm>
            <a:off x="1143000" y="5105400"/>
            <a:ext cx="46386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MLSecOps назначает роли</a:t>
            </a:r>
          </a:p>
          <a:p>
            <a:r>
              <a:t>(ds · de · mlsecops)</a:t>
            </a:r>
          </a:p>
        </p:txBody>
      </p:sp>
      <p:sp>
        <p:nvSpPr>
          <p:cNvPr id="392" name="Google Shape;392;p29"/>
          <p:cNvSpPr/>
          <p:nvPr/>
        </p:nvSpPr>
        <p:spPr>
          <a:xfrm>
            <a:off x="6867525" y="4391025"/>
            <a:ext cx="4724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MLflow SSO</a:t>
            </a:r>
          </a:p>
        </p:txBody>
      </p:sp>
      <p:sp>
        <p:nvSpPr>
          <p:cNvPr id="393" name="Google Shape;393;p29"/>
          <p:cNvSpPr/>
          <p:nvPr/>
        </p:nvSpPr>
        <p:spPr>
          <a:xfrm>
            <a:off x="6867525" y="5424550"/>
            <a:ext cx="46386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MLflow SSO</a:t>
            </a:r>
          </a:p>
        </p:txBody>
      </p:sp>
      <p:sp>
        <p:nvSpPr>
          <p:cNvPr id="394" name="Google Shape;394;p29"/>
          <p:cNvSpPr/>
          <p:nvPr/>
        </p:nvSpPr>
        <p:spPr>
          <a:xfrm>
            <a:off x="12592050" y="4391025"/>
            <a:ext cx="4724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Security pipeline</a:t>
            </a:r>
          </a:p>
        </p:txBody>
      </p:sp>
      <p:sp>
        <p:nvSpPr>
          <p:cNvPr id="395" name="Google Shape;395;p29"/>
          <p:cNvSpPr/>
          <p:nvPr/>
        </p:nvSpPr>
        <p:spPr>
          <a:xfrm>
            <a:off x="12592050" y="5537025"/>
            <a:ext cx="4638600" cy="29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Один аккаунт: UI + MLflow</a:t>
            </a:r>
          </a:p>
          <a:p>
            <a:r>
              <a:t>DS фокусируется на ML</a:t>
            </a:r>
          </a:p>
        </p:txBody>
      </p:sp>
      <p:sp>
        <p:nvSpPr>
          <p:cNvPr id="396" name="Google Shape;396;p29"/>
          <p:cNvSpPr/>
          <p:nvPr/>
        </p:nvSpPr>
        <p:spPr>
          <a:xfrm>
            <a:off x="1304925" y="3481388"/>
            <a:ext cx="3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7000875" y="3481388"/>
            <a:ext cx="44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12725400" y="3481388"/>
            <a:ext cx="447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4" name="Google Shape;4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/>
          <p:nvPr/>
        </p:nvSpPr>
        <p:spPr>
          <a:xfrm>
            <a:off x="742950" y="428625"/>
            <a:ext cx="10391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Сквозной флоу</a:t>
            </a:r>
          </a:p>
        </p:txBody>
      </p:sp>
      <p:pic>
        <p:nvPicPr>
          <p:cNvPr id="406" name="Google Shape;406;p30" title="flow.png"/>
          <p:cNvPicPr preferRelativeResize="0"/>
          <p:nvPr/>
        </p:nvPicPr>
        <p:blipFill rotWithShape="1">
          <a:blip r:embed="rId4">
            <a:alphaModFix/>
          </a:blip>
          <a:srcRect b="0" l="0" r="0" t="15362"/>
          <a:stretch/>
        </p:blipFill>
        <p:spPr>
          <a:xfrm>
            <a:off x="152400" y="2678450"/>
            <a:ext cx="17983201" cy="590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Picture 406" descr="04_sequence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00" y="1500000"/>
            <a:ext cx="17900000" cy="820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2BFE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4" name="Google Shape;4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5" name="Google Shape;44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613" y="331388"/>
            <a:ext cx="2906553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3"/>
          <p:cNvSpPr/>
          <p:nvPr/>
        </p:nvSpPr>
        <p:spPr>
          <a:xfrm>
            <a:off x="8166975" y="526650"/>
            <a:ext cx="410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CI/CD pipeline</a:t>
            </a:r>
          </a:p>
        </p:txBody>
      </p:sp>
      <p:pic>
        <p:nvPicPr>
          <p:cNvPr id="447" name="Google Shape;44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6125" y="1123950"/>
            <a:ext cx="9909523" cy="901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Picture 447" descr="05_cicd_pipe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125" y="1123950"/>
            <a:ext cx="9909523" cy="90106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2BFE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3" name="Google Shape;4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750" y="152400"/>
            <a:ext cx="11952493" cy="998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5" name="Google Shape;45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9250" y="428625"/>
            <a:ext cx="22695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4"/>
          <p:cNvSpPr/>
          <p:nvPr/>
        </p:nvSpPr>
        <p:spPr>
          <a:xfrm>
            <a:off x="8166975" y="526650"/>
            <a:ext cx="20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Архитектура</a:t>
            </a:r>
          </a:p>
        </p:txBody>
      </p:sp>
      <p:pic>
        <p:nvPicPr>
          <p:cNvPr id="457" name="Picture 456" descr="02_compose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7750" y="152400"/>
            <a:ext cx="11952493" cy="99821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8" name="Google Shape;46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9" name="Google Shape;46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572125"/>
            <a:ext cx="8172448" cy="385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0" name="Google Shape;47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5572125"/>
            <a:ext cx="8172448" cy="3857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1" name="Google Shape;47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3550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2" name="Google Shape;47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49325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6"/>
          <p:cNvSpPr/>
          <p:nvPr/>
        </p:nvSpPr>
        <p:spPr>
          <a:xfrm>
            <a:off x="1181100" y="1238250"/>
            <a:ext cx="66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Особенности</a:t>
            </a:r>
          </a:p>
        </p:txBody>
      </p:sp>
      <p:sp>
        <p:nvSpPr>
          <p:cNvPr id="474" name="Google Shape;474;p36"/>
          <p:cNvSpPr/>
          <p:nvPr/>
        </p:nvSpPr>
        <p:spPr>
          <a:xfrm>
            <a:off x="9772650" y="1238250"/>
            <a:ext cx="2781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Train в CI</a:t>
            </a:r>
          </a:p>
        </p:txBody>
      </p:sp>
      <p:sp>
        <p:nvSpPr>
          <p:cNvPr id="475" name="Google Shape;475;p36"/>
          <p:cNvSpPr/>
          <p:nvPr/>
        </p:nvSpPr>
        <p:spPr>
          <a:xfrm>
            <a:off x="13844025" y="1238250"/>
            <a:ext cx="3324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Signed prod</a:t>
            </a:r>
          </a:p>
        </p:txBody>
      </p:sp>
      <p:sp>
        <p:nvSpPr>
          <p:cNvPr id="476" name="Google Shape;476;p36"/>
          <p:cNvSpPr/>
          <p:nvPr/>
        </p:nvSpPr>
        <p:spPr>
          <a:xfrm>
            <a:off x="1181100" y="5953125"/>
            <a:ext cx="61467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Изолированные</a:t>
            </a:r>
          </a:p>
          <a:p>
            <a:r>
              <a:t>gate-этапы</a:t>
            </a:r>
          </a:p>
        </p:txBody>
      </p:sp>
      <p:sp>
        <p:nvSpPr>
          <p:cNvPr id="477" name="Google Shape;477;p36"/>
          <p:cNvSpPr/>
          <p:nvPr/>
        </p:nvSpPr>
        <p:spPr>
          <a:xfrm>
            <a:off x="9610725" y="5953125"/>
            <a:ext cx="7557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Attestation</a:t>
            </a:r>
          </a:p>
          <a:p>
            <a:r>
              <a:t>Ed25519</a:t>
            </a:r>
          </a:p>
        </p:txBody>
      </p:sp>
      <p:sp>
        <p:nvSpPr>
          <p:cNvPr id="478" name="Google Shape;478;p36"/>
          <p:cNvSpPr/>
          <p:nvPr/>
        </p:nvSpPr>
        <p:spPr>
          <a:xfrm>
            <a:off x="9772650" y="3974700"/>
            <a:ext cx="3213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Human Approve</a:t>
            </a:r>
          </a:p>
          <a:p>
            <a:r>
              <a:t>(исключение)</a:t>
            </a:r>
          </a:p>
        </p:txBody>
      </p:sp>
      <p:sp>
        <p:nvSpPr>
          <p:cNvPr id="479" name="Google Shape;479;p36"/>
          <p:cNvSpPr/>
          <p:nvPr/>
        </p:nvSpPr>
        <p:spPr>
          <a:xfrm>
            <a:off x="13844025" y="3612750"/>
            <a:ext cx="35487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Lineage:</a:t>
            </a:r>
          </a:p>
          <a:p>
            <a:r>
              <a:t>данные↔код↔модель</a:t>
            </a:r>
          </a:p>
        </p:txBody>
      </p:sp>
      <p:sp>
        <p:nvSpPr>
          <p:cNvPr id="480" name="Google Shape;480;p36"/>
          <p:cNvSpPr/>
          <p:nvPr/>
        </p:nvSpPr>
        <p:spPr>
          <a:xfrm>
            <a:off x="1181100" y="7794084"/>
            <a:ext cx="6829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Sandbox для</a:t>
            </a:r>
          </a:p>
          <a:p>
            <a:r>
              <a:t>опасных артефактов</a:t>
            </a:r>
          </a:p>
        </p:txBody>
      </p:sp>
      <p:sp>
        <p:nvSpPr>
          <p:cNvPr id="481" name="Google Shape;481;p36"/>
          <p:cNvSpPr/>
          <p:nvPr/>
        </p:nvSpPr>
        <p:spPr>
          <a:xfrm>
            <a:off x="9610725" y="8308563"/>
            <a:ext cx="74487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Keycloak +</a:t>
            </a:r>
          </a:p>
          <a:p>
            <a:r>
              <a:t>oauth2-proxy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3" name="Google Shape;49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57250"/>
            <a:ext cx="8172450" cy="4286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4" name="Google Shape;49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550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5" name="Google Shape;49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3550" y="5572125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6" name="Google Shape;49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572125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7" name="Google Shape;49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325" y="857250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8" name="Google Shape;49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325" y="5572125"/>
            <a:ext cx="38766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9" name="Google Shape;499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7775" y="5572125"/>
            <a:ext cx="38766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1181100" y="1238250"/>
            <a:ext cx="7054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Roadmap</a:t>
            </a:r>
          </a:p>
        </p:txBody>
      </p:sp>
      <p:sp>
        <p:nvSpPr>
          <p:cNvPr id="501" name="Google Shape;501;p38"/>
          <p:cNvSpPr/>
          <p:nvPr/>
        </p:nvSpPr>
        <p:spPr>
          <a:xfrm>
            <a:off x="9772650" y="1238250"/>
            <a:ext cx="27813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GenAI gates</a:t>
            </a:r>
          </a:p>
        </p:txBody>
      </p:sp>
      <p:sp>
        <p:nvSpPr>
          <p:cNvPr id="502" name="Google Shape;502;p38"/>
          <p:cNvSpPr/>
          <p:nvPr/>
        </p:nvSpPr>
        <p:spPr>
          <a:xfrm>
            <a:off x="9592488" y="5953125"/>
            <a:ext cx="3409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Масштабирование</a:t>
            </a:r>
          </a:p>
        </p:txBody>
      </p:sp>
      <p:sp>
        <p:nvSpPr>
          <p:cNvPr id="503" name="Google Shape;503;p38"/>
          <p:cNvSpPr/>
          <p:nvPr/>
        </p:nvSpPr>
        <p:spPr>
          <a:xfrm>
            <a:off x="1181100" y="5953125"/>
            <a:ext cx="30384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Новые gates</a:t>
            </a:r>
          </a:p>
        </p:txBody>
      </p:sp>
      <p:sp>
        <p:nvSpPr>
          <p:cNvPr id="504" name="Google Shape;504;p38"/>
          <p:cNvSpPr/>
          <p:nvPr/>
        </p:nvSpPr>
        <p:spPr>
          <a:xfrm>
            <a:off x="14020800" y="1238250"/>
            <a:ext cx="3133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b="1" lang="en-US" sz="4800"/>
              <a:t>РАНТАЙМ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8"/>
          <p:cNvSpPr/>
          <p:nvPr/>
        </p:nvSpPr>
        <p:spPr>
          <a:xfrm>
            <a:off x="14068425" y="5953125"/>
            <a:ext cx="23622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0"/>
              <a:buFont typeface="Arial"/>
              <a:buNone/>
            </a:pPr>
            <a:r>
              <a:rPr b="1" lang="en-US" sz="9750"/>
              <a:t>etc.</a:t>
            </a:r>
            <a:endParaRPr sz="9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8"/>
          <p:cNvSpPr/>
          <p:nvPr/>
        </p:nvSpPr>
        <p:spPr>
          <a:xfrm>
            <a:off x="5476875" y="5953125"/>
            <a:ext cx="3200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SIEM / Jira</a:t>
            </a:r>
          </a:p>
        </p:txBody>
      </p:sp>
      <p:sp>
        <p:nvSpPr>
          <p:cNvPr id="507" name="Google Shape;507;p38"/>
          <p:cNvSpPr/>
          <p:nvPr/>
        </p:nvSpPr>
        <p:spPr>
          <a:xfrm>
            <a:off x="9772650" y="8689563"/>
            <a:ext cx="2867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8"/>
          <p:cNvSpPr/>
          <p:nvPr/>
        </p:nvSpPr>
        <p:spPr>
          <a:xfrm>
            <a:off x="1181100" y="8327613"/>
            <a:ext cx="32004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en-US" sz="2850"/>
              <a:t>Добавляются как образы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8"/>
          <p:cNvSpPr/>
          <p:nvPr/>
        </p:nvSpPr>
        <p:spPr>
          <a:xfrm>
            <a:off x="14068425" y="8327613"/>
            <a:ext cx="39243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r>
              <a:t>Drift G15</a:t>
            </a:r>
          </a:p>
        </p:txBody>
      </p:sp>
      <p:sp>
        <p:nvSpPr>
          <p:cNvPr id="510" name="Google Shape;510;p38"/>
          <p:cNvSpPr/>
          <p:nvPr/>
        </p:nvSpPr>
        <p:spPr>
          <a:xfrm>
            <a:off x="5476875" y="8689563"/>
            <a:ext cx="2886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409575" lvl="0" marL="45720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SzPts val="2850"/>
              <a:buChar char="+"/>
            </a:pPr>
            <a:r>
              <a:rPr lang="en-US" sz="2850"/>
              <a:t>тикеты в jira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8"/>
          <p:cNvSpPr/>
          <p:nvPr/>
        </p:nvSpPr>
        <p:spPr>
          <a:xfrm>
            <a:off x="9772650" y="3974688"/>
            <a:ext cx="2695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8"/>
          <p:cNvSpPr/>
          <p:nvPr/>
        </p:nvSpPr>
        <p:spPr>
          <a:xfrm>
            <a:off x="14068425" y="3612738"/>
            <a:ext cx="33243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t/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BEB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8" name="Google Shape;51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15580" y="428625"/>
            <a:ext cx="2409825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9"/>
          <p:cNvSpPr/>
          <p:nvPr/>
        </p:nvSpPr>
        <p:spPr>
          <a:xfrm>
            <a:off x="742950" y="428625"/>
            <a:ext cx="103728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r>
              <a:t>Аналоги — платформы vs инструменты</a:t>
            </a:r>
          </a:p>
        </p:txBody>
      </p:sp>
      <p:graphicFrame>
        <p:nvGraphicFramePr>
          <p:cNvPr id="520" name="Google Shape;520;p39"/>
          <p:cNvGraphicFramePr/>
          <p:nvPr/>
        </p:nvGraphicFramePr>
        <p:xfrm>
          <a:off x="161925" y="21293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8FC"/>
                </a:solidFill>
                <a:tableStyleId>{0B7415D2-84E3-443C-A2BA-0AA4032B1B50}</a:tableStyleId>
              </a:tblPr>
              <a:tblGrid>
                <a:gridCol w="4581525"/>
                <a:gridCol w="6696075"/>
                <a:gridCol w="6686550"/>
              </a:tblGrid>
              <a:tr h="285750">
                <a:tc>
                  <a:txBody>
                    <a:bodyPr/>
                    <a:lstStyle/>
                    <a:p>
                      <a:r>
                        <a:t>Категория</a:t>
                      </a: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Примеры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Проблема / отличие FORTRESS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t>Платформы</a:t>
                      </a: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HiddenLayer, Protect AI, SageMaker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Дорого / облако / нет bank CI→prod policy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t>Инструменты</a:t>
                      </a: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gitleaks, trivy, modelscan, MLflow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Хороши сами по себе, но НЕ интегрированы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r>
                        <a:t>FORTRESS</a:t>
                      </a: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Self-hosted compose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Единый pipeline + lineage + audit + Human Approve</a:t>
                      </a: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Snyk / Sonar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Секреты, CVE в коде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 смотрят датасет и файл модели; нет lineage run → датасет → модель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Arize / Evidently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Drift в проде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основном после выката; слабый стоп до прода и Approve MLSecOps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SageMaker / Vertex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Полный MLOps в облаке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rgbClr val="4A3D52"/>
                          </a:solidFill>
                          <a:highlight>
                            <a:srgbClr val="FFF8FC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Облако и вендор; не ваш self-hosted + WORM + свой audit</a:t>
                      </a:r>
                      <a:endParaRPr sz="2400">
                        <a:solidFill>
                          <a:srgbClr val="4A3D52"/>
                        </a:solidFill>
                        <a:highlight>
                          <a:srgbClr val="FFF8FC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625" marB="47625" marR="85725" marL="85725">
                    <a:lnL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53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521" name="Picture 520" descr="11_analogs_mar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5580" y="428625"/>
            <a:ext cx="2409825" cy="857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